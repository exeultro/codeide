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  <p:sldId id="269" r:id="rId5"/>
    <p:sldId id="264" r:id="rId6"/>
    <p:sldId id="261" r:id="rId7"/>
    <p:sldId id="263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07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7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0AA62-9572-44F8-A7C5-E2656FA61498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FA96A-CB93-4370-B991-5F2EB5C022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3059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0AA62-9572-44F8-A7C5-E2656FA61498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FA96A-CB93-4370-B991-5F2EB5C022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2795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0AA62-9572-44F8-A7C5-E2656FA61498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FA96A-CB93-4370-B991-5F2EB5C022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3488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0AA62-9572-44F8-A7C5-E2656FA61498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FA96A-CB93-4370-B991-5F2EB5C022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0727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0AA62-9572-44F8-A7C5-E2656FA61498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FA96A-CB93-4370-B991-5F2EB5C022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049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0AA62-9572-44F8-A7C5-E2656FA61498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FA96A-CB93-4370-B991-5F2EB5C022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590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0AA62-9572-44F8-A7C5-E2656FA61498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FA96A-CB93-4370-B991-5F2EB5C022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0721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0AA62-9572-44F8-A7C5-E2656FA61498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FA96A-CB93-4370-B991-5F2EB5C022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3611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0AA62-9572-44F8-A7C5-E2656FA61498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FA96A-CB93-4370-B991-5F2EB5C022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4957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0AA62-9572-44F8-A7C5-E2656FA61498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FA96A-CB93-4370-B991-5F2EB5C022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5123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0AA62-9572-44F8-A7C5-E2656FA61498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FA96A-CB93-4370-B991-5F2EB5C022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333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20AA62-9572-44F8-A7C5-E2656FA61498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FA96A-CB93-4370-B991-5F2EB5C022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49479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4DB1978-05BE-440B-B2B8-AC230A7B3EB9}"/>
              </a:ext>
            </a:extLst>
          </p:cNvPr>
          <p:cNvSpPr/>
          <p:nvPr/>
        </p:nvSpPr>
        <p:spPr>
          <a:xfrm>
            <a:off x="1329358" y="1510747"/>
            <a:ext cx="7417076" cy="1272209"/>
          </a:xfrm>
          <a:prstGeom prst="rect">
            <a:avLst/>
          </a:prstGeom>
          <a:solidFill>
            <a:srgbClr val="950707"/>
          </a:solidFill>
          <a:ln>
            <a:solidFill>
              <a:srgbClr val="9507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C19D28-01F2-437A-B089-31574BD2F535}"/>
              </a:ext>
            </a:extLst>
          </p:cNvPr>
          <p:cNvSpPr txBox="1"/>
          <p:nvPr/>
        </p:nvSpPr>
        <p:spPr>
          <a:xfrm>
            <a:off x="1388991" y="2931320"/>
            <a:ext cx="729780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Платформа реального времени для совместного программирования 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C5ED0E-6865-4A2B-BD3E-5D2EAC3695BC}"/>
              </a:ext>
            </a:extLst>
          </p:cNvPr>
          <p:cNvSpPr txBox="1"/>
          <p:nvPr/>
        </p:nvSpPr>
        <p:spPr>
          <a:xfrm>
            <a:off x="1329358" y="1362383"/>
            <a:ext cx="787560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altLang="ru-RU" sz="9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CollabIDE AI </a:t>
            </a:r>
            <a:endParaRPr lang="ru-RU" sz="96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700C434-3B20-4BCD-A132-EB6B6074A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1304" y="4649280"/>
            <a:ext cx="34069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Команда: 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ByteRangers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2B8A6A4-38C9-4CE2-A2F9-F01947AFAF4F}"/>
              </a:ext>
            </a:extLst>
          </p:cNvPr>
          <p:cNvSpPr/>
          <p:nvPr/>
        </p:nvSpPr>
        <p:spPr>
          <a:xfrm>
            <a:off x="1329358" y="3080408"/>
            <a:ext cx="59633" cy="928130"/>
          </a:xfrm>
          <a:prstGeom prst="rect">
            <a:avLst/>
          </a:prstGeom>
          <a:solidFill>
            <a:srgbClr val="950707"/>
          </a:solidFill>
          <a:ln>
            <a:solidFill>
              <a:srgbClr val="9507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0995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E47F67-C586-4F83-A644-6D5EB4F71827}"/>
              </a:ext>
            </a:extLst>
          </p:cNvPr>
          <p:cNvSpPr txBox="1"/>
          <p:nvPr/>
        </p:nvSpPr>
        <p:spPr>
          <a:xfrm>
            <a:off x="974034" y="403928"/>
            <a:ext cx="42961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C60A555-D6C8-408F-8E53-EF2006091299}"/>
              </a:ext>
            </a:extLst>
          </p:cNvPr>
          <p:cNvSpPr/>
          <p:nvPr/>
        </p:nvSpPr>
        <p:spPr>
          <a:xfrm flipV="1">
            <a:off x="685800" y="1212066"/>
            <a:ext cx="10446026" cy="45719"/>
          </a:xfrm>
          <a:prstGeom prst="rect">
            <a:avLst/>
          </a:prstGeom>
          <a:solidFill>
            <a:srgbClr val="950707"/>
          </a:solidFill>
          <a:ln>
            <a:solidFill>
              <a:srgbClr val="9507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ED0BEAB-FADD-4952-89C0-A8037BD4C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443841"/>
            <a:ext cx="999876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Студенты не могут эффективно работать над кодом вместе </a:t>
            </a:r>
            <a:endParaRPr kumimoji="0" lang="en-US" altLang="ru-RU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Нет единого пространства для совместной разработки</a:t>
            </a:r>
            <a:endParaRPr kumimoji="0" lang="en-US" altLang="ru-RU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AI не помогает в реальном времен</a:t>
            </a:r>
            <a:endParaRPr kumimoji="0" lang="en-US" altLang="ru-RU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Нужно постоянно синхронизировать код через мессенджеры 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11661B3-9DD0-4047-B044-54EF7A6ACFA3}"/>
              </a:ext>
            </a:extLst>
          </p:cNvPr>
          <p:cNvSpPr/>
          <p:nvPr/>
        </p:nvSpPr>
        <p:spPr>
          <a:xfrm flipV="1">
            <a:off x="685799" y="5645933"/>
            <a:ext cx="10446025" cy="48899"/>
          </a:xfrm>
          <a:prstGeom prst="rect">
            <a:avLst/>
          </a:prstGeom>
          <a:solidFill>
            <a:srgbClr val="950707"/>
          </a:solidFill>
          <a:ln>
            <a:solidFill>
              <a:srgbClr val="9507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45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85E51A4-4BCA-45C2-BAB1-AB5BF8DEDBB5}"/>
              </a:ext>
            </a:extLst>
          </p:cNvPr>
          <p:cNvSpPr/>
          <p:nvPr/>
        </p:nvSpPr>
        <p:spPr>
          <a:xfrm>
            <a:off x="8415131" y="2781037"/>
            <a:ext cx="3091069" cy="647963"/>
          </a:xfrm>
          <a:prstGeom prst="rect">
            <a:avLst/>
          </a:prstGeom>
          <a:solidFill>
            <a:srgbClr val="950707"/>
          </a:solidFill>
          <a:ln>
            <a:solidFill>
              <a:srgbClr val="9507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98C5E28-1F90-4D70-B9D2-9114612EC721}"/>
              </a:ext>
            </a:extLst>
          </p:cNvPr>
          <p:cNvSpPr/>
          <p:nvPr/>
        </p:nvSpPr>
        <p:spPr>
          <a:xfrm>
            <a:off x="4372802" y="2781037"/>
            <a:ext cx="3091069" cy="647963"/>
          </a:xfrm>
          <a:prstGeom prst="rect">
            <a:avLst/>
          </a:prstGeom>
          <a:solidFill>
            <a:srgbClr val="950707"/>
          </a:solidFill>
          <a:ln>
            <a:solidFill>
              <a:srgbClr val="9507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DF77C89-AEC8-4B3F-907C-4F4D1F237256}"/>
              </a:ext>
            </a:extLst>
          </p:cNvPr>
          <p:cNvSpPr/>
          <p:nvPr/>
        </p:nvSpPr>
        <p:spPr>
          <a:xfrm>
            <a:off x="685800" y="2781037"/>
            <a:ext cx="3091069" cy="647963"/>
          </a:xfrm>
          <a:prstGeom prst="rect">
            <a:avLst/>
          </a:prstGeom>
          <a:solidFill>
            <a:srgbClr val="950707"/>
          </a:solidFill>
          <a:ln>
            <a:solidFill>
              <a:srgbClr val="9507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E47F67-C586-4F83-A644-6D5EB4F71827}"/>
              </a:ext>
            </a:extLst>
          </p:cNvPr>
          <p:cNvSpPr txBox="1"/>
          <p:nvPr/>
        </p:nvSpPr>
        <p:spPr>
          <a:xfrm>
            <a:off x="984194" y="426788"/>
            <a:ext cx="42961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C60A555-D6C8-408F-8E53-EF2006091299}"/>
              </a:ext>
            </a:extLst>
          </p:cNvPr>
          <p:cNvSpPr/>
          <p:nvPr/>
        </p:nvSpPr>
        <p:spPr>
          <a:xfrm>
            <a:off x="685800" y="1257785"/>
            <a:ext cx="10446026" cy="45719"/>
          </a:xfrm>
          <a:prstGeom prst="rect">
            <a:avLst/>
          </a:prstGeom>
          <a:solidFill>
            <a:srgbClr val="950707"/>
          </a:solidFill>
          <a:ln>
            <a:solidFill>
              <a:srgbClr val="9507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6101F7-F8B0-4509-9A98-B9EBDBC3C045}"/>
              </a:ext>
            </a:extLst>
          </p:cNvPr>
          <p:cNvSpPr txBox="1"/>
          <p:nvPr/>
        </p:nvSpPr>
        <p:spPr>
          <a:xfrm>
            <a:off x="564046" y="2781037"/>
            <a:ext cx="321282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ВЕБ-IDE</a:t>
            </a:r>
            <a:r>
              <a:rPr kumimoji="0" lang="en-US" altLang="ru-RU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реальном в реальном 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4DE021-D5C7-419F-BEE4-EEA121D23B80}"/>
              </a:ext>
            </a:extLst>
          </p:cNvPr>
          <p:cNvSpPr txBox="1"/>
          <p:nvPr/>
        </p:nvSpPr>
        <p:spPr>
          <a:xfrm>
            <a:off x="4246908" y="2728295"/>
            <a:ext cx="334285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AI-РЕВЬЮЕР</a:t>
            </a:r>
            <a:r>
              <a:rPr kumimoji="0" lang="en-US" altLang="ru-RU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песочнице времени 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76493E-6D00-4D29-B757-92B492CFC6EC}"/>
              </a:ext>
            </a:extLst>
          </p:cNvPr>
          <p:cNvSpPr txBox="1"/>
          <p:nvPr/>
        </p:nvSpPr>
        <p:spPr>
          <a:xfrm>
            <a:off x="8059806" y="2728295"/>
            <a:ext cx="356814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ТЕРМИНАЛ</a:t>
            </a:r>
            <a:r>
              <a:rPr kumimoji="0" lang="en-US" altLang="ru-RU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времени Docker 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96032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1DAB510-6DF4-4AB8-84B3-22718418472C}"/>
              </a:ext>
            </a:extLst>
          </p:cNvPr>
          <p:cNvSpPr/>
          <p:nvPr/>
        </p:nvSpPr>
        <p:spPr>
          <a:xfrm>
            <a:off x="2087881" y="5139472"/>
            <a:ext cx="5741418" cy="640814"/>
          </a:xfrm>
          <a:prstGeom prst="rect">
            <a:avLst/>
          </a:prstGeom>
          <a:solidFill>
            <a:srgbClr val="95070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4FFCDBE-7B50-44E5-8CDD-E3E29718AE76}"/>
              </a:ext>
            </a:extLst>
          </p:cNvPr>
          <p:cNvSpPr/>
          <p:nvPr/>
        </p:nvSpPr>
        <p:spPr>
          <a:xfrm>
            <a:off x="8031479" y="3104197"/>
            <a:ext cx="2164081" cy="1381581"/>
          </a:xfrm>
          <a:prstGeom prst="rect">
            <a:avLst/>
          </a:prstGeom>
          <a:solidFill>
            <a:srgbClr val="95070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F078AE6-24F0-4D3D-8DA8-9B1DF8008E50}"/>
              </a:ext>
            </a:extLst>
          </p:cNvPr>
          <p:cNvSpPr/>
          <p:nvPr/>
        </p:nvSpPr>
        <p:spPr>
          <a:xfrm>
            <a:off x="5013960" y="3081985"/>
            <a:ext cx="2164081" cy="1381581"/>
          </a:xfrm>
          <a:prstGeom prst="rect">
            <a:avLst/>
          </a:prstGeom>
          <a:solidFill>
            <a:srgbClr val="95070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AE818A2-BE97-44DD-AD93-C8C2952EDD67}"/>
              </a:ext>
            </a:extLst>
          </p:cNvPr>
          <p:cNvSpPr/>
          <p:nvPr/>
        </p:nvSpPr>
        <p:spPr>
          <a:xfrm>
            <a:off x="2087881" y="3094798"/>
            <a:ext cx="2164081" cy="1381581"/>
          </a:xfrm>
          <a:prstGeom prst="rect">
            <a:avLst/>
          </a:prstGeom>
          <a:solidFill>
            <a:srgbClr val="950707"/>
          </a:solidFill>
          <a:ln>
            <a:solidFill>
              <a:srgbClr val="9507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2E953AB-A42E-4FC7-AD10-1FAA28EA4BE9}"/>
              </a:ext>
            </a:extLst>
          </p:cNvPr>
          <p:cNvSpPr/>
          <p:nvPr/>
        </p:nvSpPr>
        <p:spPr>
          <a:xfrm>
            <a:off x="3399812" y="1498520"/>
            <a:ext cx="5392375" cy="963506"/>
          </a:xfrm>
          <a:prstGeom prst="rect">
            <a:avLst/>
          </a:prstGeom>
          <a:solidFill>
            <a:srgbClr val="95070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E47F67-C586-4F83-A644-6D5EB4F71827}"/>
              </a:ext>
            </a:extLst>
          </p:cNvPr>
          <p:cNvSpPr txBox="1"/>
          <p:nvPr/>
        </p:nvSpPr>
        <p:spPr>
          <a:xfrm>
            <a:off x="821218" y="449647"/>
            <a:ext cx="82415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</a:t>
            </a:r>
            <a:r>
              <a:rPr lang="en-US" sz="4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CollabIDE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</a:t>
            </a:r>
            <a:endParaRPr lang="ru-RU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C60A555-D6C8-408F-8E53-EF2006091299}"/>
              </a:ext>
            </a:extLst>
          </p:cNvPr>
          <p:cNvSpPr/>
          <p:nvPr/>
        </p:nvSpPr>
        <p:spPr>
          <a:xfrm>
            <a:off x="685800" y="1257785"/>
            <a:ext cx="10446026" cy="45719"/>
          </a:xfrm>
          <a:prstGeom prst="rect">
            <a:avLst/>
          </a:prstGeom>
          <a:solidFill>
            <a:srgbClr val="950707"/>
          </a:solidFill>
          <a:ln>
            <a:solidFill>
              <a:srgbClr val="9507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CB31DA-3073-45ED-9A6F-E8C34AB54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9812" y="1459657"/>
            <a:ext cx="539237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 (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Vue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3)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Monaco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Editor +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Yjs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EE895C-38AF-42F8-8F02-2A89C580C2D5}"/>
              </a:ext>
            </a:extLst>
          </p:cNvPr>
          <p:cNvSpPr txBox="1"/>
          <p:nvPr/>
        </p:nvSpPr>
        <p:spPr>
          <a:xfrm>
            <a:off x="7985758" y="3089671"/>
            <a:ext cx="225552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</a:p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(gemma3:1b) </a:t>
            </a:r>
          </a:p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:11434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65DA1F-57A2-48A4-956B-EAC603A43DD1}"/>
              </a:ext>
            </a:extLst>
          </p:cNvPr>
          <p:cNvSpPr txBox="1"/>
          <p:nvPr/>
        </p:nvSpPr>
        <p:spPr>
          <a:xfrm>
            <a:off x="5151118" y="3091384"/>
            <a:ext cx="188976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Yjs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(CRDT) </a:t>
            </a:r>
          </a:p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:1234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55308C-E789-4E81-B5BC-D1BB8EC4F953}"/>
              </a:ext>
            </a:extLst>
          </p:cNvPr>
          <p:cNvSpPr txBox="1"/>
          <p:nvPr/>
        </p:nvSpPr>
        <p:spPr>
          <a:xfrm>
            <a:off x="2087881" y="3078570"/>
            <a:ext cx="2164081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(Go) </a:t>
            </a:r>
          </a:p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:8080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311E23A9-F526-440F-8329-A688E53FA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881" y="5198269"/>
            <a:ext cx="592938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(хранение и кэш) </a:t>
            </a:r>
            <a:endParaRPr kumimoji="0" lang="ru-RU" altLang="ru-RU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E9F9DD9E-F87E-49FE-881E-BDBD090703BC}"/>
              </a:ext>
            </a:extLst>
          </p:cNvPr>
          <p:cNvCxnSpPr/>
          <p:nvPr/>
        </p:nvCxnSpPr>
        <p:spPr>
          <a:xfrm>
            <a:off x="6096000" y="2560320"/>
            <a:ext cx="0" cy="3860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050C6077-EB8B-4AAA-AA6A-0F5B1AD425A2}"/>
              </a:ext>
            </a:extLst>
          </p:cNvPr>
          <p:cNvCxnSpPr>
            <a:cxnSpLocks/>
          </p:cNvCxnSpPr>
          <p:nvPr/>
        </p:nvCxnSpPr>
        <p:spPr>
          <a:xfrm>
            <a:off x="3119120" y="2712720"/>
            <a:ext cx="6116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FC411F98-F52B-4FE9-9ACA-34D75BBAB5B0}"/>
              </a:ext>
            </a:extLst>
          </p:cNvPr>
          <p:cNvCxnSpPr/>
          <p:nvPr/>
        </p:nvCxnSpPr>
        <p:spPr>
          <a:xfrm>
            <a:off x="3119120" y="2712720"/>
            <a:ext cx="0" cy="2336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564EDF05-99DD-4902-B564-1F121B3DB4CA}"/>
              </a:ext>
            </a:extLst>
          </p:cNvPr>
          <p:cNvCxnSpPr/>
          <p:nvPr/>
        </p:nvCxnSpPr>
        <p:spPr>
          <a:xfrm>
            <a:off x="9235440" y="2712720"/>
            <a:ext cx="0" cy="2336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93A224C0-2E48-435E-81CC-183C502D130A}"/>
              </a:ext>
            </a:extLst>
          </p:cNvPr>
          <p:cNvCxnSpPr/>
          <p:nvPr/>
        </p:nvCxnSpPr>
        <p:spPr>
          <a:xfrm>
            <a:off x="3119120" y="4602480"/>
            <a:ext cx="0" cy="3759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9831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D666E3A-12FA-4F57-BD8B-17A4ADDB211C}"/>
              </a:ext>
            </a:extLst>
          </p:cNvPr>
          <p:cNvSpPr/>
          <p:nvPr/>
        </p:nvSpPr>
        <p:spPr>
          <a:xfrm>
            <a:off x="2667000" y="2407919"/>
            <a:ext cx="5113020" cy="2301241"/>
          </a:xfrm>
          <a:prstGeom prst="rect">
            <a:avLst/>
          </a:prstGeom>
          <a:solidFill>
            <a:srgbClr val="950707"/>
          </a:solidFill>
          <a:ln>
            <a:solidFill>
              <a:srgbClr val="9507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7D3D50-3DDF-4B31-BB99-32F872339CF4}"/>
              </a:ext>
            </a:extLst>
          </p:cNvPr>
          <p:cNvSpPr txBox="1"/>
          <p:nvPr/>
        </p:nvSpPr>
        <p:spPr>
          <a:xfrm>
            <a:off x="1607820" y="1583174"/>
            <a:ext cx="61722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функции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160381-32A3-447E-9760-747A7D2863DB}"/>
              </a:ext>
            </a:extLst>
          </p:cNvPr>
          <p:cNvSpPr txBox="1"/>
          <p:nvPr/>
        </p:nvSpPr>
        <p:spPr>
          <a:xfrm>
            <a:off x="975360" y="-764828"/>
            <a:ext cx="102412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Совместное редактирование в реальном времени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8802E5D-595C-4ADC-9931-16E784C97B14}"/>
              </a:ext>
            </a:extLst>
          </p:cNvPr>
          <p:cNvSpPr/>
          <p:nvPr/>
        </p:nvSpPr>
        <p:spPr>
          <a:xfrm>
            <a:off x="-2867681" y="1385233"/>
            <a:ext cx="1089577" cy="1022686"/>
          </a:xfrm>
          <a:prstGeom prst="rect">
            <a:avLst/>
          </a:prstGeom>
          <a:solidFill>
            <a:srgbClr val="950707"/>
          </a:solidFill>
          <a:ln>
            <a:solidFill>
              <a:srgbClr val="9507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686545F-ED27-4FB4-B12B-542BC586225F}"/>
              </a:ext>
            </a:extLst>
          </p:cNvPr>
          <p:cNvSpPr/>
          <p:nvPr/>
        </p:nvSpPr>
        <p:spPr>
          <a:xfrm>
            <a:off x="-2322893" y="2689057"/>
            <a:ext cx="1235351" cy="1815882"/>
          </a:xfrm>
          <a:prstGeom prst="rect">
            <a:avLst/>
          </a:prstGeom>
          <a:solidFill>
            <a:srgbClr val="950707"/>
          </a:solidFill>
          <a:ln>
            <a:solidFill>
              <a:srgbClr val="9507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B0B04FC-8029-4C41-B04F-3BF7E99EDE6D}"/>
              </a:ext>
            </a:extLst>
          </p:cNvPr>
          <p:cNvSpPr/>
          <p:nvPr/>
        </p:nvSpPr>
        <p:spPr>
          <a:xfrm>
            <a:off x="-1087542" y="4786077"/>
            <a:ext cx="671720" cy="1005370"/>
          </a:xfrm>
          <a:prstGeom prst="rect">
            <a:avLst/>
          </a:prstGeom>
          <a:solidFill>
            <a:srgbClr val="950707"/>
          </a:solidFill>
          <a:ln>
            <a:solidFill>
              <a:srgbClr val="9507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1031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8FA715E9-53E1-4530-A798-739EC8A2024C}"/>
              </a:ext>
            </a:extLst>
          </p:cNvPr>
          <p:cNvSpPr/>
          <p:nvPr/>
        </p:nvSpPr>
        <p:spPr>
          <a:xfrm>
            <a:off x="2923759" y="5189082"/>
            <a:ext cx="671720" cy="1005370"/>
          </a:xfrm>
          <a:prstGeom prst="rect">
            <a:avLst/>
          </a:prstGeom>
          <a:solidFill>
            <a:srgbClr val="950707"/>
          </a:solidFill>
          <a:ln>
            <a:solidFill>
              <a:srgbClr val="9507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ACA140E0-71A4-452F-A881-9A3E61020A73}"/>
              </a:ext>
            </a:extLst>
          </p:cNvPr>
          <p:cNvSpPr/>
          <p:nvPr/>
        </p:nvSpPr>
        <p:spPr>
          <a:xfrm>
            <a:off x="1459808" y="2995787"/>
            <a:ext cx="1235351" cy="1815882"/>
          </a:xfrm>
          <a:prstGeom prst="rect">
            <a:avLst/>
          </a:prstGeom>
          <a:solidFill>
            <a:srgbClr val="950707"/>
          </a:solidFill>
          <a:ln>
            <a:solidFill>
              <a:srgbClr val="9507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FD53367-4811-4309-80EB-37DAADB8DC12}"/>
              </a:ext>
            </a:extLst>
          </p:cNvPr>
          <p:cNvSpPr/>
          <p:nvPr/>
        </p:nvSpPr>
        <p:spPr>
          <a:xfrm>
            <a:off x="370232" y="1615443"/>
            <a:ext cx="1089577" cy="1022686"/>
          </a:xfrm>
          <a:prstGeom prst="rect">
            <a:avLst/>
          </a:prstGeom>
          <a:solidFill>
            <a:srgbClr val="950707"/>
          </a:solidFill>
          <a:ln>
            <a:solidFill>
              <a:srgbClr val="9507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E47F67-C586-4F83-A644-6D5EB4F71827}"/>
              </a:ext>
            </a:extLst>
          </p:cNvPr>
          <p:cNvSpPr txBox="1"/>
          <p:nvPr/>
        </p:nvSpPr>
        <p:spPr>
          <a:xfrm>
            <a:off x="907773" y="603619"/>
            <a:ext cx="103764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Совместное редактирование в реальном времени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C60A555-D6C8-408F-8E53-EF2006091299}"/>
              </a:ext>
            </a:extLst>
          </p:cNvPr>
          <p:cNvSpPr/>
          <p:nvPr/>
        </p:nvSpPr>
        <p:spPr>
          <a:xfrm flipV="1">
            <a:off x="685800" y="1212066"/>
            <a:ext cx="10499034" cy="45719"/>
          </a:xfrm>
          <a:prstGeom prst="rect">
            <a:avLst/>
          </a:prstGeom>
          <a:solidFill>
            <a:srgbClr val="950707"/>
          </a:solidFill>
          <a:ln>
            <a:solidFill>
              <a:srgbClr val="9507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65A686-B0BC-45E7-9B86-E1B3A6F1D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3759" y="5189082"/>
            <a:ext cx="152068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UNDO/REDO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5487EE-D8D2-4EF7-AFA4-DBD085CF5A7B}"/>
              </a:ext>
            </a:extLst>
          </p:cNvPr>
          <p:cNvSpPr txBox="1"/>
          <p:nvPr/>
        </p:nvSpPr>
        <p:spPr>
          <a:xfrm>
            <a:off x="370233" y="1615443"/>
            <a:ext cx="217915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Десятки участников 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892410-13EA-49BC-BC7B-32E94F451BB0}"/>
              </a:ext>
            </a:extLst>
          </p:cNvPr>
          <p:cNvSpPr txBox="1"/>
          <p:nvPr/>
        </p:nvSpPr>
        <p:spPr>
          <a:xfrm>
            <a:off x="1459809" y="2927208"/>
            <a:ext cx="247070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Курсоры участников для всех одновременно 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C7E322E-9AA4-4D93-9949-474332DAADF1}"/>
              </a:ext>
            </a:extLst>
          </p:cNvPr>
          <p:cNvSpPr/>
          <p:nvPr/>
        </p:nvSpPr>
        <p:spPr>
          <a:xfrm>
            <a:off x="12618720" y="1869212"/>
            <a:ext cx="1664914" cy="4069031"/>
          </a:xfrm>
          <a:prstGeom prst="rect">
            <a:avLst/>
          </a:prstGeom>
          <a:solidFill>
            <a:srgbClr val="950707"/>
          </a:solidFill>
          <a:ln>
            <a:solidFill>
              <a:srgbClr val="9507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A1DE245-A96D-4C7B-980C-A76F053C9C6E}"/>
              </a:ext>
            </a:extLst>
          </p:cNvPr>
          <p:cNvSpPr txBox="1"/>
          <p:nvPr/>
        </p:nvSpPr>
        <p:spPr>
          <a:xfrm>
            <a:off x="-8380983" y="527039"/>
            <a:ext cx="92583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</a:t>
            </a: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ревьюер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реальном времени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9DA63E8-B1D1-452F-B3C7-C170D62B1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976" y="1741849"/>
            <a:ext cx="6734065" cy="378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143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23756FD-25F8-4BB9-A032-F1E69E29138D}"/>
              </a:ext>
            </a:extLst>
          </p:cNvPr>
          <p:cNvSpPr/>
          <p:nvPr/>
        </p:nvSpPr>
        <p:spPr>
          <a:xfrm>
            <a:off x="8453120" y="1783129"/>
            <a:ext cx="1664914" cy="4069031"/>
          </a:xfrm>
          <a:prstGeom prst="rect">
            <a:avLst/>
          </a:prstGeom>
          <a:solidFill>
            <a:srgbClr val="950707"/>
          </a:solidFill>
          <a:ln>
            <a:solidFill>
              <a:srgbClr val="9507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E47F67-C586-4F83-A644-6D5EB4F71827}"/>
              </a:ext>
            </a:extLst>
          </p:cNvPr>
          <p:cNvSpPr txBox="1"/>
          <p:nvPr/>
        </p:nvSpPr>
        <p:spPr>
          <a:xfrm>
            <a:off x="747090" y="527039"/>
            <a:ext cx="103764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</a:t>
            </a: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ревьюер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реальном времени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C60A555-D6C8-408F-8E53-EF2006091299}"/>
              </a:ext>
            </a:extLst>
          </p:cNvPr>
          <p:cNvSpPr/>
          <p:nvPr/>
        </p:nvSpPr>
        <p:spPr>
          <a:xfrm flipV="1">
            <a:off x="685800" y="1212066"/>
            <a:ext cx="10499034" cy="45719"/>
          </a:xfrm>
          <a:prstGeom prst="rect">
            <a:avLst/>
          </a:prstGeom>
          <a:solidFill>
            <a:srgbClr val="950707"/>
          </a:solidFill>
          <a:ln>
            <a:solidFill>
              <a:srgbClr val="9507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5C543C-79B0-4472-9D4A-04FFB66651A2}"/>
              </a:ext>
            </a:extLst>
          </p:cNvPr>
          <p:cNvSpPr txBox="1"/>
          <p:nvPr/>
        </p:nvSpPr>
        <p:spPr>
          <a:xfrm>
            <a:off x="8296578" y="1783129"/>
            <a:ext cx="305081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</a:t>
            </a:r>
          </a:p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каждой строки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BC0127-EBA0-4623-B07D-55ECDFFA2F05}"/>
              </a:ext>
            </a:extLst>
          </p:cNvPr>
          <p:cNvSpPr txBox="1"/>
          <p:nvPr/>
        </p:nvSpPr>
        <p:spPr>
          <a:xfrm>
            <a:off x="8692430" y="2938969"/>
            <a:ext cx="249240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Нахождение багов и уязвимостей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5DE139-AF20-458B-A29B-B8616E296E59}"/>
              </a:ext>
            </a:extLst>
          </p:cNvPr>
          <p:cNvSpPr txBox="1"/>
          <p:nvPr/>
        </p:nvSpPr>
        <p:spPr>
          <a:xfrm>
            <a:off x="8639754" y="4587251"/>
            <a:ext cx="25450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Подсказки по решению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E39CE9-48A1-41DE-AA1F-EE257E529600}"/>
              </a:ext>
            </a:extLst>
          </p:cNvPr>
          <p:cNvSpPr txBox="1"/>
          <p:nvPr/>
        </p:nvSpPr>
        <p:spPr>
          <a:xfrm>
            <a:off x="1240149" y="7391373"/>
            <a:ext cx="238149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Общий терминал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C14223B-BE9B-4A3B-A5DA-86749B33FB99}"/>
              </a:ext>
            </a:extLst>
          </p:cNvPr>
          <p:cNvSpPr txBox="1"/>
          <p:nvPr/>
        </p:nvSpPr>
        <p:spPr>
          <a:xfrm>
            <a:off x="4771923" y="7391373"/>
            <a:ext cx="228889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Безопасная песочница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410860-7083-4C11-AA9C-1FB9C47431CC}"/>
              </a:ext>
            </a:extLst>
          </p:cNvPr>
          <p:cNvSpPr txBox="1"/>
          <p:nvPr/>
        </p:nvSpPr>
        <p:spPr>
          <a:xfrm>
            <a:off x="8211099" y="7391373"/>
            <a:ext cx="279817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Запуск кода одной кнопкой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414ED44-AF83-474E-8705-72D6A149EF8E}"/>
              </a:ext>
            </a:extLst>
          </p:cNvPr>
          <p:cNvSpPr txBox="1"/>
          <p:nvPr/>
        </p:nvSpPr>
        <p:spPr>
          <a:xfrm>
            <a:off x="13032875" y="504180"/>
            <a:ext cx="11018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Встроенный терминал и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Docker-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песочница 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939AA10-C613-5ECD-9726-333049A44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56" y="1859270"/>
            <a:ext cx="7108344" cy="399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629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408064B-26E8-47A4-8916-D7BCA34E4E1E}"/>
              </a:ext>
            </a:extLst>
          </p:cNvPr>
          <p:cNvSpPr/>
          <p:nvPr/>
        </p:nvSpPr>
        <p:spPr>
          <a:xfrm>
            <a:off x="1990846" y="5691653"/>
            <a:ext cx="9375494" cy="729978"/>
          </a:xfrm>
          <a:prstGeom prst="rect">
            <a:avLst/>
          </a:prstGeom>
          <a:solidFill>
            <a:srgbClr val="950707"/>
          </a:solidFill>
          <a:ln>
            <a:solidFill>
              <a:srgbClr val="9507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E47F67-C586-4F83-A644-6D5EB4F71827}"/>
              </a:ext>
            </a:extLst>
          </p:cNvPr>
          <p:cNvSpPr txBox="1"/>
          <p:nvPr/>
        </p:nvSpPr>
        <p:spPr>
          <a:xfrm>
            <a:off x="747090" y="527039"/>
            <a:ext cx="103764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Встроенный терминал и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Docker-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песочница 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C60A555-D6C8-408F-8E53-EF2006091299}"/>
              </a:ext>
            </a:extLst>
          </p:cNvPr>
          <p:cNvSpPr/>
          <p:nvPr/>
        </p:nvSpPr>
        <p:spPr>
          <a:xfrm flipV="1">
            <a:off x="685800" y="1212066"/>
            <a:ext cx="10499034" cy="45719"/>
          </a:xfrm>
          <a:prstGeom prst="rect">
            <a:avLst/>
          </a:prstGeom>
          <a:solidFill>
            <a:srgbClr val="950707"/>
          </a:solidFill>
          <a:ln>
            <a:solidFill>
              <a:srgbClr val="9507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302FB0-7310-4770-B1B2-CA1C8171DA77}"/>
              </a:ext>
            </a:extLst>
          </p:cNvPr>
          <p:cNvSpPr txBox="1"/>
          <p:nvPr/>
        </p:nvSpPr>
        <p:spPr>
          <a:xfrm>
            <a:off x="1259095" y="5344413"/>
            <a:ext cx="238149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Общий терминал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66013F-0B19-415A-89DB-41FA16714F55}"/>
              </a:ext>
            </a:extLst>
          </p:cNvPr>
          <p:cNvSpPr txBox="1"/>
          <p:nvPr/>
        </p:nvSpPr>
        <p:spPr>
          <a:xfrm>
            <a:off x="4790869" y="5344413"/>
            <a:ext cx="228889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Безопасная песочница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11BD07-F6C1-421C-9DD1-24BD781860C0}"/>
              </a:ext>
            </a:extLst>
          </p:cNvPr>
          <p:cNvSpPr txBox="1"/>
          <p:nvPr/>
        </p:nvSpPr>
        <p:spPr>
          <a:xfrm>
            <a:off x="8230045" y="5344413"/>
            <a:ext cx="279817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Запуск кода одной кнопкой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363F6F9-9812-4227-B413-A3B5DB2F3B49}"/>
              </a:ext>
            </a:extLst>
          </p:cNvPr>
          <p:cNvSpPr/>
          <p:nvPr/>
        </p:nvSpPr>
        <p:spPr>
          <a:xfrm>
            <a:off x="-2173334" y="5159312"/>
            <a:ext cx="1290321" cy="154244"/>
          </a:xfrm>
          <a:prstGeom prst="rect">
            <a:avLst/>
          </a:prstGeom>
          <a:solidFill>
            <a:srgbClr val="950707"/>
          </a:solidFill>
          <a:ln>
            <a:solidFill>
              <a:srgbClr val="9507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1C4C9E4-8485-4B0B-9D6F-65A96D270DEF}"/>
              </a:ext>
            </a:extLst>
          </p:cNvPr>
          <p:cNvSpPr/>
          <p:nvPr/>
        </p:nvSpPr>
        <p:spPr>
          <a:xfrm>
            <a:off x="-2315572" y="3705643"/>
            <a:ext cx="1300480" cy="156089"/>
          </a:xfrm>
          <a:prstGeom prst="rect">
            <a:avLst/>
          </a:prstGeom>
          <a:solidFill>
            <a:srgbClr val="950707"/>
          </a:solidFill>
          <a:ln>
            <a:solidFill>
              <a:srgbClr val="9507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05DC525-A3F7-4476-87A4-48A84DA3B3CB}"/>
              </a:ext>
            </a:extLst>
          </p:cNvPr>
          <p:cNvSpPr/>
          <p:nvPr/>
        </p:nvSpPr>
        <p:spPr>
          <a:xfrm>
            <a:off x="-2315572" y="1889760"/>
            <a:ext cx="1544319" cy="156090"/>
          </a:xfrm>
          <a:prstGeom prst="rect">
            <a:avLst/>
          </a:prstGeom>
          <a:solidFill>
            <a:srgbClr val="950707"/>
          </a:solidFill>
          <a:ln>
            <a:solidFill>
              <a:srgbClr val="9507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432DCF-C72B-4293-8C7D-0E44DC07CE80}"/>
              </a:ext>
            </a:extLst>
          </p:cNvPr>
          <p:cNvSpPr txBox="1"/>
          <p:nvPr/>
        </p:nvSpPr>
        <p:spPr>
          <a:xfrm>
            <a:off x="-2906879" y="1613118"/>
            <a:ext cx="238149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Инкогнито скрой свое имя в рейтинге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B42F19-D356-4926-962D-546AB70389A9}"/>
              </a:ext>
            </a:extLst>
          </p:cNvPr>
          <p:cNvSpPr txBox="1"/>
          <p:nvPr/>
        </p:nvSpPr>
        <p:spPr>
          <a:xfrm>
            <a:off x="-2945493" y="3429000"/>
            <a:ext cx="229204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Рейтинг </a:t>
            </a:r>
          </a:p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 активность в сессии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19E37F-DCDE-4A94-A09D-99DD4BF4A36E}"/>
              </a:ext>
            </a:extLst>
          </p:cNvPr>
          <p:cNvSpPr txBox="1"/>
          <p:nvPr/>
        </p:nvSpPr>
        <p:spPr>
          <a:xfrm>
            <a:off x="-3017369" y="4880824"/>
            <a:ext cx="270407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Telegram уведомления о событиях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05022E7E-2004-4D31-AE1B-88245C848C83}"/>
              </a:ext>
            </a:extLst>
          </p:cNvPr>
          <p:cNvSpPr/>
          <p:nvPr/>
        </p:nvSpPr>
        <p:spPr>
          <a:xfrm flipH="1">
            <a:off x="-3150507" y="1613118"/>
            <a:ext cx="45719" cy="1735658"/>
          </a:xfrm>
          <a:prstGeom prst="rect">
            <a:avLst/>
          </a:prstGeom>
          <a:solidFill>
            <a:srgbClr val="950707"/>
          </a:solidFill>
          <a:ln>
            <a:solidFill>
              <a:srgbClr val="9507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0F69FE6C-905B-4C56-9A2C-55DE4E00466D}"/>
              </a:ext>
            </a:extLst>
          </p:cNvPr>
          <p:cNvSpPr/>
          <p:nvPr/>
        </p:nvSpPr>
        <p:spPr>
          <a:xfrm flipH="1">
            <a:off x="-3150508" y="3576320"/>
            <a:ext cx="45719" cy="1076960"/>
          </a:xfrm>
          <a:prstGeom prst="rect">
            <a:avLst/>
          </a:prstGeom>
          <a:solidFill>
            <a:srgbClr val="950707"/>
          </a:solidFill>
          <a:ln>
            <a:solidFill>
              <a:srgbClr val="9507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6596525-9C44-4C3F-8FF2-43E5F6B5C1EF}"/>
              </a:ext>
            </a:extLst>
          </p:cNvPr>
          <p:cNvSpPr/>
          <p:nvPr/>
        </p:nvSpPr>
        <p:spPr>
          <a:xfrm flipH="1">
            <a:off x="-3150509" y="4880824"/>
            <a:ext cx="45719" cy="1384995"/>
          </a:xfrm>
          <a:prstGeom prst="rect">
            <a:avLst/>
          </a:prstGeom>
          <a:solidFill>
            <a:srgbClr val="950707"/>
          </a:solidFill>
          <a:ln>
            <a:solidFill>
              <a:srgbClr val="9507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0A13C7-CFFE-4D8A-8F05-FCE7D107F044}"/>
              </a:ext>
            </a:extLst>
          </p:cNvPr>
          <p:cNvSpPr txBox="1"/>
          <p:nvPr/>
        </p:nvSpPr>
        <p:spPr>
          <a:xfrm>
            <a:off x="747090" y="-877303"/>
            <a:ext cx="76733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Дополнительные фишки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CB292A2-D523-A2AE-F94D-7D1E3205F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527" y="1411308"/>
            <a:ext cx="3832941" cy="390748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0BC1A78-E07E-080B-590E-98B8CE73E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354" y="1411308"/>
            <a:ext cx="4096124" cy="3935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99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D12DCD2-EA3A-43C7-9A7C-76D8390C1865}"/>
              </a:ext>
            </a:extLst>
          </p:cNvPr>
          <p:cNvSpPr/>
          <p:nvPr/>
        </p:nvSpPr>
        <p:spPr>
          <a:xfrm>
            <a:off x="1341119" y="5159312"/>
            <a:ext cx="1290321" cy="154244"/>
          </a:xfrm>
          <a:prstGeom prst="rect">
            <a:avLst/>
          </a:prstGeom>
          <a:solidFill>
            <a:srgbClr val="950707"/>
          </a:solidFill>
          <a:ln>
            <a:solidFill>
              <a:srgbClr val="9507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9BDE6E9-C3D4-47F0-8E81-00F83A53EF3C}"/>
              </a:ext>
            </a:extLst>
          </p:cNvPr>
          <p:cNvSpPr/>
          <p:nvPr/>
        </p:nvSpPr>
        <p:spPr>
          <a:xfrm>
            <a:off x="1198881" y="3705643"/>
            <a:ext cx="1300480" cy="156089"/>
          </a:xfrm>
          <a:prstGeom prst="rect">
            <a:avLst/>
          </a:prstGeom>
          <a:solidFill>
            <a:srgbClr val="950707"/>
          </a:solidFill>
          <a:ln>
            <a:solidFill>
              <a:srgbClr val="9507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26B68A7-6D48-43BF-AC71-DA49812A7290}"/>
              </a:ext>
            </a:extLst>
          </p:cNvPr>
          <p:cNvSpPr/>
          <p:nvPr/>
        </p:nvSpPr>
        <p:spPr>
          <a:xfrm>
            <a:off x="1198881" y="1889760"/>
            <a:ext cx="1544319" cy="156090"/>
          </a:xfrm>
          <a:prstGeom prst="rect">
            <a:avLst/>
          </a:prstGeom>
          <a:solidFill>
            <a:srgbClr val="950707"/>
          </a:solidFill>
          <a:ln>
            <a:solidFill>
              <a:srgbClr val="9507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E47F67-C586-4F83-A644-6D5EB4F71827}"/>
              </a:ext>
            </a:extLst>
          </p:cNvPr>
          <p:cNvSpPr txBox="1"/>
          <p:nvPr/>
        </p:nvSpPr>
        <p:spPr>
          <a:xfrm>
            <a:off x="747090" y="527039"/>
            <a:ext cx="103764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Дополнительные фишки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C60A555-D6C8-408F-8E53-EF2006091299}"/>
              </a:ext>
            </a:extLst>
          </p:cNvPr>
          <p:cNvSpPr/>
          <p:nvPr/>
        </p:nvSpPr>
        <p:spPr>
          <a:xfrm flipV="1">
            <a:off x="685800" y="1212066"/>
            <a:ext cx="10499034" cy="45719"/>
          </a:xfrm>
          <a:prstGeom prst="rect">
            <a:avLst/>
          </a:prstGeom>
          <a:solidFill>
            <a:srgbClr val="950707"/>
          </a:solidFill>
          <a:ln>
            <a:solidFill>
              <a:srgbClr val="9507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2D4303-2071-4B7B-A15E-3485E0289B2E}"/>
              </a:ext>
            </a:extLst>
          </p:cNvPr>
          <p:cNvSpPr txBox="1"/>
          <p:nvPr/>
        </p:nvSpPr>
        <p:spPr>
          <a:xfrm>
            <a:off x="607574" y="1613118"/>
            <a:ext cx="238149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Инкогнито скрой свое имя в рейтинге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5596DF-850A-4EC0-9793-7211A15E767F}"/>
              </a:ext>
            </a:extLst>
          </p:cNvPr>
          <p:cNvSpPr txBox="1"/>
          <p:nvPr/>
        </p:nvSpPr>
        <p:spPr>
          <a:xfrm>
            <a:off x="568960" y="3429000"/>
            <a:ext cx="229204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Рейтинг </a:t>
            </a:r>
          </a:p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 активность в сессии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C0A3A2-57CB-4E3C-8131-D6FC8E1059C1}"/>
              </a:ext>
            </a:extLst>
          </p:cNvPr>
          <p:cNvSpPr txBox="1"/>
          <p:nvPr/>
        </p:nvSpPr>
        <p:spPr>
          <a:xfrm>
            <a:off x="497084" y="4880824"/>
            <a:ext cx="270407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Telegram уведомления о событиях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7038266-C296-45AD-822F-627E4CD55291}"/>
              </a:ext>
            </a:extLst>
          </p:cNvPr>
          <p:cNvSpPr/>
          <p:nvPr/>
        </p:nvSpPr>
        <p:spPr>
          <a:xfrm flipH="1">
            <a:off x="363946" y="1613118"/>
            <a:ext cx="45719" cy="1735658"/>
          </a:xfrm>
          <a:prstGeom prst="rect">
            <a:avLst/>
          </a:prstGeom>
          <a:solidFill>
            <a:srgbClr val="950707"/>
          </a:solidFill>
          <a:ln>
            <a:solidFill>
              <a:srgbClr val="9507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453A8DC-30E3-4258-9778-DC5494EDD82B}"/>
              </a:ext>
            </a:extLst>
          </p:cNvPr>
          <p:cNvSpPr/>
          <p:nvPr/>
        </p:nvSpPr>
        <p:spPr>
          <a:xfrm flipH="1">
            <a:off x="363945" y="3576320"/>
            <a:ext cx="45719" cy="1076960"/>
          </a:xfrm>
          <a:prstGeom prst="rect">
            <a:avLst/>
          </a:prstGeom>
          <a:solidFill>
            <a:srgbClr val="950707"/>
          </a:solidFill>
          <a:ln>
            <a:solidFill>
              <a:srgbClr val="9507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1231289-46BB-440B-B797-C70CEAC887C7}"/>
              </a:ext>
            </a:extLst>
          </p:cNvPr>
          <p:cNvSpPr/>
          <p:nvPr/>
        </p:nvSpPr>
        <p:spPr>
          <a:xfrm flipH="1">
            <a:off x="363944" y="4880824"/>
            <a:ext cx="45719" cy="1384995"/>
          </a:xfrm>
          <a:prstGeom prst="rect">
            <a:avLst/>
          </a:prstGeom>
          <a:solidFill>
            <a:srgbClr val="950707"/>
          </a:solidFill>
          <a:ln>
            <a:solidFill>
              <a:srgbClr val="9507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F86A21A-935E-C287-0D62-18A9F4C19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1306" y="1889760"/>
            <a:ext cx="3086748" cy="435886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31A14DF-059A-8B6C-188A-E59667E49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430" y="1853259"/>
            <a:ext cx="1799789" cy="4477702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52AF1F8-7CCA-ACF4-2B47-A312C34747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9065" y="2278570"/>
            <a:ext cx="3606091" cy="316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596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EBBDE859-41B5-4F26-AACA-916FC7D81599}"/>
              </a:ext>
            </a:extLst>
          </p:cNvPr>
          <p:cNvSpPr/>
          <p:nvPr/>
        </p:nvSpPr>
        <p:spPr>
          <a:xfrm>
            <a:off x="2319020" y="4977968"/>
            <a:ext cx="2580640" cy="1377372"/>
          </a:xfrm>
          <a:prstGeom prst="rect">
            <a:avLst/>
          </a:prstGeom>
          <a:solidFill>
            <a:srgbClr val="950707"/>
          </a:solidFill>
          <a:ln>
            <a:solidFill>
              <a:srgbClr val="9507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1F62649-86C6-4ABC-926C-118EA50CA837}"/>
              </a:ext>
            </a:extLst>
          </p:cNvPr>
          <p:cNvSpPr/>
          <p:nvPr/>
        </p:nvSpPr>
        <p:spPr>
          <a:xfrm>
            <a:off x="7967980" y="2083088"/>
            <a:ext cx="2580640" cy="2246770"/>
          </a:xfrm>
          <a:prstGeom prst="rect">
            <a:avLst/>
          </a:prstGeom>
          <a:solidFill>
            <a:srgbClr val="950707"/>
          </a:solidFill>
          <a:ln>
            <a:solidFill>
              <a:srgbClr val="9507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2DCD450C-FE6F-48DA-B2A1-41A9D062F62C}"/>
              </a:ext>
            </a:extLst>
          </p:cNvPr>
          <p:cNvSpPr/>
          <p:nvPr/>
        </p:nvSpPr>
        <p:spPr>
          <a:xfrm>
            <a:off x="7967980" y="4977968"/>
            <a:ext cx="2580640" cy="1377372"/>
          </a:xfrm>
          <a:prstGeom prst="rect">
            <a:avLst/>
          </a:prstGeom>
          <a:solidFill>
            <a:srgbClr val="950707"/>
          </a:solidFill>
          <a:ln>
            <a:solidFill>
              <a:srgbClr val="9507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6806C7ED-0D13-42B3-A1C5-7DF0B8943A3B}"/>
              </a:ext>
            </a:extLst>
          </p:cNvPr>
          <p:cNvSpPr/>
          <p:nvPr/>
        </p:nvSpPr>
        <p:spPr>
          <a:xfrm>
            <a:off x="2319020" y="2083089"/>
            <a:ext cx="2580640" cy="2246769"/>
          </a:xfrm>
          <a:prstGeom prst="rect">
            <a:avLst/>
          </a:prstGeom>
          <a:solidFill>
            <a:srgbClr val="950707"/>
          </a:solidFill>
          <a:ln>
            <a:solidFill>
              <a:srgbClr val="9507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E47F67-C586-4F83-A644-6D5EB4F71827}"/>
              </a:ext>
            </a:extLst>
          </p:cNvPr>
          <p:cNvSpPr txBox="1"/>
          <p:nvPr/>
        </p:nvSpPr>
        <p:spPr>
          <a:xfrm>
            <a:off x="747090" y="527039"/>
            <a:ext cx="103764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Технологический стек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C60A555-D6C8-408F-8E53-EF2006091299}"/>
              </a:ext>
            </a:extLst>
          </p:cNvPr>
          <p:cNvSpPr/>
          <p:nvPr/>
        </p:nvSpPr>
        <p:spPr>
          <a:xfrm flipV="1">
            <a:off x="685800" y="1212066"/>
            <a:ext cx="10499034" cy="45719"/>
          </a:xfrm>
          <a:prstGeom prst="rect">
            <a:avLst/>
          </a:prstGeom>
          <a:solidFill>
            <a:srgbClr val="950707"/>
          </a:solidFill>
          <a:ln>
            <a:solidFill>
              <a:srgbClr val="9507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0F0416-6336-472D-8143-05CB86B08592}"/>
              </a:ext>
            </a:extLst>
          </p:cNvPr>
          <p:cNvSpPr txBox="1"/>
          <p:nvPr/>
        </p:nvSpPr>
        <p:spPr>
          <a:xfrm>
            <a:off x="1795780" y="1880032"/>
            <a:ext cx="302768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Vue 3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TypeScript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Monaco Editor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Yjs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(CRDT)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Pinia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Vite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198D84-7729-476B-AF2B-F6C34510DB59}"/>
              </a:ext>
            </a:extLst>
          </p:cNvPr>
          <p:cNvSpPr txBox="1"/>
          <p:nvPr/>
        </p:nvSpPr>
        <p:spPr>
          <a:xfrm>
            <a:off x="7368540" y="1877523"/>
            <a:ext cx="30276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Go 1.23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PostgreSQL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Redis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WebSocket (Gorilla)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JWT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A0C352-0DDE-4D8C-B173-9C5EC1AAEB43}"/>
              </a:ext>
            </a:extLst>
          </p:cNvPr>
          <p:cNvSpPr txBox="1"/>
          <p:nvPr/>
        </p:nvSpPr>
        <p:spPr>
          <a:xfrm>
            <a:off x="7368540" y="4749049"/>
            <a:ext cx="30276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Docker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Docker Compose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8A2987-DCBF-42BA-B008-3A8DF08CD634}"/>
              </a:ext>
            </a:extLst>
          </p:cNvPr>
          <p:cNvSpPr txBox="1"/>
          <p:nvPr/>
        </p:nvSpPr>
        <p:spPr>
          <a:xfrm>
            <a:off x="1795780" y="4749050"/>
            <a:ext cx="30276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gemma3:1b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988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207</TotalTime>
  <Words>246</Words>
  <Application>Microsoft Office PowerPoint</Application>
  <PresentationFormat>Широкоэкранный</PresentationFormat>
  <Paragraphs>77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Leena</dc:creator>
  <cp:lastModifiedBy>Человек Кирилл</cp:lastModifiedBy>
  <cp:revision>15</cp:revision>
  <dcterms:created xsi:type="dcterms:W3CDTF">2026-04-02T04:41:57Z</dcterms:created>
  <dcterms:modified xsi:type="dcterms:W3CDTF">2026-04-02T11:40:07Z</dcterms:modified>
</cp:coreProperties>
</file>